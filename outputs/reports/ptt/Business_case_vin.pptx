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2328"/>
    <a:srgbClr val="80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012" autoAdjust="0"/>
  </p:normalViewPr>
  <p:slideViewPr>
    <p:cSldViewPr snapToGrid="0">
      <p:cViewPr varScale="1">
        <p:scale>
          <a:sx n="72" d="100"/>
          <a:sy n="72" d="100"/>
        </p:scale>
        <p:origin x="2034"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AB8B8-CCD4-43BF-9D0A-D1EE5651D910}" type="datetimeFigureOut">
              <a:rPr lang="fr-FR" smtClean="0"/>
              <a:t>16/07/2024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7CE601-8647-48C6-A183-5CE52C88268F}" type="slidenum">
              <a:rPr lang="fr-FR" smtClean="0"/>
              <a:t>‹N°›</a:t>
            </a:fld>
            <a:endParaRPr lang="fr-FR"/>
          </a:p>
        </p:txBody>
      </p:sp>
    </p:spTree>
    <p:extLst>
      <p:ext uri="{BB962C8B-B14F-4D97-AF65-F5344CB8AC3E}">
        <p14:creationId xmlns:p14="http://schemas.microsoft.com/office/powerpoint/2010/main" val="3338796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Nous avons à disposition 13 colonnes contenant des informations pour chaque vin.</a:t>
            </a:r>
          </a:p>
          <a:p>
            <a:endParaRPr lang="fr-FR" dirty="0"/>
          </a:p>
          <a:p>
            <a:r>
              <a:rPr lang="fr-FR" dirty="0"/>
              <a:t>Il y a des informations manquantes sur certaines colonnes. </a:t>
            </a:r>
          </a:p>
          <a:p>
            <a:endParaRPr lang="fr-FR" dirty="0"/>
          </a:p>
          <a:p>
            <a:r>
              <a:rPr lang="fr-FR" dirty="0"/>
              <a:t>Après observation des informations contenues dans les colonnes contenant du texte, j’ai observé que la colonne </a:t>
            </a:r>
            <a:r>
              <a:rPr lang="fr-FR" dirty="0" err="1"/>
              <a:t>title</a:t>
            </a:r>
            <a:r>
              <a:rPr lang="fr-FR" dirty="0"/>
              <a:t> contenais des informations sur le millésime mais aussi sur la région_1</a:t>
            </a:r>
          </a:p>
          <a:p>
            <a:endParaRPr lang="fr-FR" dirty="0"/>
          </a:p>
          <a:p>
            <a:r>
              <a:rPr lang="fr-FR" dirty="0"/>
              <a:t>J’ai donc créé une colonne supplémentaire avec les millésimes </a:t>
            </a:r>
            <a:r>
              <a:rPr lang="fr-FR" dirty="0" err="1"/>
              <a:t>diponible</a:t>
            </a:r>
            <a:r>
              <a:rPr lang="fr-FR" dirty="0"/>
              <a:t> pour la suite de l’analyse.</a:t>
            </a:r>
          </a:p>
          <a:p>
            <a:endParaRPr lang="fr-FR" dirty="0"/>
          </a:p>
          <a:p>
            <a:r>
              <a:rPr lang="fr-FR" dirty="0"/>
              <a:t>Ensuite pour compléter au maximum les données manquantes de la colonne region_1, j’ai extrait les informations depuis la colonne </a:t>
            </a:r>
            <a:r>
              <a:rPr lang="fr-FR" dirty="0" err="1"/>
              <a:t>title</a:t>
            </a:r>
            <a:r>
              <a:rPr lang="fr-FR" dirty="0"/>
              <a:t> et compléter en cas de données manquantes dans la colonne region_1.</a:t>
            </a:r>
          </a:p>
          <a:p>
            <a:endParaRPr lang="fr-FR" dirty="0"/>
          </a:p>
          <a:p>
            <a:r>
              <a:rPr lang="fr-FR" dirty="0"/>
              <a:t>Pour finir cette </a:t>
            </a:r>
            <a:r>
              <a:rPr lang="fr-FR" dirty="0" err="1"/>
              <a:t>premiere</a:t>
            </a:r>
            <a:r>
              <a:rPr lang="fr-FR" dirty="0"/>
              <a:t> partie, j’ai remplacé toutes les valeurs manquante des colonnes contenant des catégories par ‘</a:t>
            </a:r>
            <a:r>
              <a:rPr lang="fr-FR" dirty="0" err="1"/>
              <a:t>unknown</a:t>
            </a:r>
            <a:r>
              <a:rPr lang="fr-FR" dirty="0"/>
              <a:t>’</a:t>
            </a:r>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3</a:t>
            </a:fld>
            <a:endParaRPr lang="fr-FR"/>
          </a:p>
        </p:txBody>
      </p:sp>
    </p:spTree>
    <p:extLst>
      <p:ext uri="{BB962C8B-B14F-4D97-AF65-F5344CB8AC3E}">
        <p14:creationId xmlns:p14="http://schemas.microsoft.com/office/powerpoint/2010/main" val="16475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Voilà les informations suite au premier nettoyage</a:t>
            </a:r>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4</a:t>
            </a:fld>
            <a:endParaRPr lang="fr-FR"/>
          </a:p>
        </p:txBody>
      </p:sp>
    </p:spTree>
    <p:extLst>
      <p:ext uri="{BB962C8B-B14F-4D97-AF65-F5344CB8AC3E}">
        <p14:creationId xmlns:p14="http://schemas.microsoft.com/office/powerpoint/2010/main" val="1888355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Nous pouvons observer deux types d’information.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Les informations de type numériques et les informations de type catégorielles.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 commençant par les informations catégorielles, j’ai observé qu’il y avait un grand nombre de classe différentes, mais qu’une petite proportion des classes représentaient une part importante du nombre de vin disponible.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 exemple </a:t>
            </a:r>
            <a:r>
              <a:rPr lang="fr-FR" b="0" dirty="0">
                <a:solidFill>
                  <a:srgbClr val="E1E4E8"/>
                </a:solidFill>
                <a:effectLst/>
                <a:highlight>
                  <a:srgbClr val="24292E"/>
                </a:highlight>
                <a:latin typeface="Consolas" panose="020B0609020204030204" pitchFamily="49" charset="0"/>
              </a:rPr>
              <a:t>80% des vins viennent de seulement 5 pays différents. Les vins restants (20%) sont pour le reste des 39 autres pays.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E1E4E8"/>
                </a:solidFill>
                <a:effectLst/>
                <a:highlight>
                  <a:srgbClr val="24292E"/>
                </a:highlight>
                <a:latin typeface="Consolas" panose="020B0609020204030204" pitchFamily="49" charset="0"/>
              </a:rPr>
              <a:t>J’ai donc regroupé les catégories ayant une faible proportion en nombre dans une catégorie </a:t>
            </a:r>
            <a:r>
              <a:rPr lang="fr-FR" b="0" dirty="0" err="1">
                <a:solidFill>
                  <a:srgbClr val="E1E4E8"/>
                </a:solidFill>
                <a:effectLst/>
                <a:highlight>
                  <a:srgbClr val="24292E"/>
                </a:highlight>
                <a:latin typeface="Consolas" panose="020B0609020204030204" pitchFamily="49" charset="0"/>
              </a:rPr>
              <a:t>other</a:t>
            </a:r>
            <a:r>
              <a:rPr lang="fr-FR" b="0" dirty="0">
                <a:solidFill>
                  <a:srgbClr val="E1E4E8"/>
                </a:solidFill>
                <a:effectLst/>
                <a:highlight>
                  <a:srgbClr val="24292E"/>
                </a:highlight>
                <a:latin typeface="Consolas" panose="020B0609020204030204" pitchFamily="49" charset="0"/>
              </a:rPr>
              <a:t> (dans l’exemple que je donnais, les 39 autres pays) et ça pour toutes les colonnes.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E1E4E8"/>
                </a:solidFill>
                <a:effectLst/>
                <a:highlight>
                  <a:srgbClr val="24292E"/>
                </a:highlight>
                <a:latin typeface="Consolas" panose="020B0609020204030204" pitchFamily="49" charset="0"/>
              </a:rPr>
              <a:t>Concernant les données numériques, les distributions comportent beaucoup de valeur aberrantes (</a:t>
            </a:r>
            <a:r>
              <a:rPr lang="fr-FR" b="0" dirty="0" err="1">
                <a:solidFill>
                  <a:srgbClr val="E1E4E8"/>
                </a:solidFill>
                <a:effectLst/>
                <a:highlight>
                  <a:srgbClr val="24292E"/>
                </a:highlight>
                <a:latin typeface="Consolas" panose="020B0609020204030204" pitchFamily="49" charset="0"/>
              </a:rPr>
              <a:t>outliers</a:t>
            </a:r>
            <a:r>
              <a:rPr lang="fr-FR" b="0" dirty="0">
                <a:solidFill>
                  <a:srgbClr val="E1E4E8"/>
                </a:solidFill>
                <a:effectLst/>
                <a:highlight>
                  <a:srgbClr val="24292E"/>
                </a:highlight>
                <a:latin typeface="Consolas" panose="020B0609020204030204" pitchFamily="49" charset="0"/>
              </a:rPr>
              <a:t>) sur les prix (qui sont parfois extrêmes) et les millésimes où des vins anciens sont sur le marché.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E1E4E8"/>
                </a:solidFill>
                <a:effectLst/>
                <a:highlight>
                  <a:srgbClr val="24292E"/>
                </a:highlight>
                <a:latin typeface="Consolas" panose="020B0609020204030204" pitchFamily="49" charset="0"/>
              </a:rPr>
              <a:t>Si on supprime de l’affichage, les distributions sont plutôt standard. 80% des vins viennent de 5 pays différents. Les vins restants (20%)sont pour le reste des pays (39)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5</a:t>
            </a:fld>
            <a:endParaRPr lang="fr-FR"/>
          </a:p>
        </p:txBody>
      </p:sp>
    </p:spTree>
    <p:extLst>
      <p:ext uri="{BB962C8B-B14F-4D97-AF65-F5344CB8AC3E}">
        <p14:creationId xmlns:p14="http://schemas.microsoft.com/office/powerpoint/2010/main" val="3558370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J’ai ensuite cherché à observer des corrélations  et/ou des relations entre les différentes informations.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Ici ont peu observer qu’il y a une corrélation entre la moyenne du points et la médiane du prix pour chaque cluster de pays.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Cette information peu nous servir pour remplir des données manquantes en cas de besoin sur la variable </a:t>
            </a:r>
            <a:r>
              <a:rPr lang="fr-FR" dirty="0" err="1"/>
              <a:t>price</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6</a:t>
            </a:fld>
            <a:endParaRPr lang="fr-FR"/>
          </a:p>
        </p:txBody>
      </p:sp>
    </p:spTree>
    <p:extLst>
      <p:ext uri="{BB962C8B-B14F-4D97-AF65-F5344CB8AC3E}">
        <p14:creationId xmlns:p14="http://schemas.microsoft.com/office/powerpoint/2010/main" val="3531694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E1E4E8"/>
                </a:solidFill>
                <a:effectLst/>
                <a:highlight>
                  <a:srgbClr val="24292E"/>
                </a:highlight>
                <a:latin typeface="Consolas" panose="020B0609020204030204" pitchFamily="49" charset="0"/>
              </a:rPr>
              <a:t>Également en observant les distributions de prix ou de points des différentes catégories, je ne peux pas observé de relation clairement établi avec les autres variables catégorielles tel que le pays , le cépage ou la désignation du vin (Sauf peut </a:t>
            </a:r>
            <a:r>
              <a:rPr lang="fr-FR" b="0" dirty="0" err="1">
                <a:solidFill>
                  <a:srgbClr val="E1E4E8"/>
                </a:solidFill>
                <a:effectLst/>
                <a:highlight>
                  <a:srgbClr val="24292E"/>
                </a:highlight>
                <a:latin typeface="Consolas" panose="020B0609020204030204" pitchFamily="49" charset="0"/>
              </a:rPr>
              <a:t>etre</a:t>
            </a:r>
            <a:r>
              <a:rPr lang="fr-FR" b="0" dirty="0">
                <a:solidFill>
                  <a:srgbClr val="E1E4E8"/>
                </a:solidFill>
                <a:effectLst/>
                <a:highlight>
                  <a:srgbClr val="24292E"/>
                </a:highlight>
                <a:latin typeface="Consolas" panose="020B0609020204030204" pitchFamily="49" charset="0"/>
              </a:rPr>
              <a:t> pour la désignation échantillon des barriques --&gt; peut être faussé car le produit est testé avant d'être mis en bouteille)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E1E4E8"/>
                </a:solidFill>
                <a:effectLst/>
                <a:highlight>
                  <a:srgbClr val="24292E"/>
                </a:highlight>
                <a:latin typeface="Consolas" panose="020B0609020204030204" pitchFamily="49" charset="0"/>
              </a:rPr>
              <a:t>Cependant, on confirme bien la relation avec les clusters de prix et de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E1E4E8"/>
                </a:solidFill>
                <a:effectLst/>
                <a:highlight>
                  <a:srgbClr val="24292E"/>
                </a:highlight>
                <a:latin typeface="Consolas" panose="020B0609020204030204" pitchFamily="49" charset="0"/>
              </a:rPr>
              <a:t>Maintenant quand on regarde les derniers quartiles des distributions, certaines informations ont une valeur plus élevée que les autres : </a:t>
            </a:r>
          </a:p>
          <a:p>
            <a:r>
              <a:rPr lang="fr-FR" b="0" dirty="0">
                <a:solidFill>
                  <a:srgbClr val="FFAB70"/>
                </a:solidFill>
                <a:effectLst/>
                <a:highlight>
                  <a:srgbClr val="24292E"/>
                </a:highlight>
                <a:latin typeface="Consolas" panose="020B0609020204030204" pitchFamily="49" charset="0"/>
              </a:rPr>
              <a:t>-</a:t>
            </a:r>
            <a:r>
              <a:rPr lang="fr-FR" b="0" dirty="0">
                <a:solidFill>
                  <a:srgbClr val="E1E4E8"/>
                </a:solidFill>
                <a:effectLst/>
                <a:highlight>
                  <a:srgbClr val="24292E"/>
                </a:highlight>
                <a:latin typeface="Consolas" panose="020B0609020204030204" pitchFamily="49" charset="0"/>
              </a:rPr>
              <a:t> Pays : </a:t>
            </a:r>
            <a:r>
              <a:rPr lang="fr-FR" b="0" dirty="0" err="1">
                <a:solidFill>
                  <a:srgbClr val="E1E4E8"/>
                </a:solidFill>
                <a:effectLst/>
                <a:highlight>
                  <a:srgbClr val="24292E"/>
                </a:highlight>
                <a:latin typeface="Consolas" panose="020B0609020204030204" pitchFamily="49" charset="0"/>
              </a:rPr>
              <a:t>Italy</a:t>
            </a:r>
            <a:endParaRPr lang="fr-FR" b="0" dirty="0">
              <a:solidFill>
                <a:srgbClr val="E1E4E8"/>
              </a:solidFill>
              <a:effectLst/>
              <a:highlight>
                <a:srgbClr val="24292E"/>
              </a:highlight>
              <a:latin typeface="Consolas" panose="020B0609020204030204" pitchFamily="49" charset="0"/>
            </a:endParaRPr>
          </a:p>
          <a:p>
            <a:r>
              <a:rPr lang="fr-FR" b="0" dirty="0">
                <a:solidFill>
                  <a:srgbClr val="FFAB70"/>
                </a:solidFill>
                <a:effectLst/>
                <a:highlight>
                  <a:srgbClr val="24292E"/>
                </a:highlight>
                <a:latin typeface="Consolas" panose="020B0609020204030204" pitchFamily="49" charset="0"/>
              </a:rPr>
              <a:t>-</a:t>
            </a:r>
            <a:r>
              <a:rPr lang="fr-FR" b="0" dirty="0">
                <a:solidFill>
                  <a:srgbClr val="E1E4E8"/>
                </a:solidFill>
                <a:effectLst/>
                <a:highlight>
                  <a:srgbClr val="24292E"/>
                </a:highlight>
                <a:latin typeface="Consolas" panose="020B0609020204030204" pitchFamily="49" charset="0"/>
              </a:rPr>
              <a:t> Cépage : Cabernet Sauvignon</a:t>
            </a:r>
          </a:p>
          <a:p>
            <a:r>
              <a:rPr lang="fr-FR" b="0" dirty="0">
                <a:solidFill>
                  <a:srgbClr val="FFAB70"/>
                </a:solidFill>
                <a:effectLst/>
                <a:highlight>
                  <a:srgbClr val="24292E"/>
                </a:highlight>
                <a:latin typeface="Consolas" panose="020B0609020204030204" pitchFamily="49" charset="0"/>
              </a:rPr>
              <a:t>-</a:t>
            </a:r>
            <a:r>
              <a:rPr lang="fr-FR" b="0" dirty="0">
                <a:solidFill>
                  <a:srgbClr val="E1E4E8"/>
                </a:solidFill>
                <a:effectLst/>
                <a:highlight>
                  <a:srgbClr val="24292E"/>
                </a:highlight>
                <a:latin typeface="Consolas" panose="020B0609020204030204" pitchFamily="49" charset="0"/>
              </a:rPr>
              <a:t> désignation : </a:t>
            </a:r>
            <a:r>
              <a:rPr lang="fr-FR" b="0" dirty="0" err="1">
                <a:solidFill>
                  <a:srgbClr val="E1E4E8"/>
                </a:solidFill>
                <a:effectLst/>
                <a:highlight>
                  <a:srgbClr val="24292E"/>
                </a:highlight>
                <a:latin typeface="Consolas" panose="020B0609020204030204" pitchFamily="49" charset="0"/>
              </a:rPr>
              <a:t>Riserva</a:t>
            </a:r>
            <a:r>
              <a:rPr lang="fr-FR" b="0" dirty="0">
                <a:solidFill>
                  <a:srgbClr val="E1E4E8"/>
                </a:solidFill>
                <a:effectLst/>
                <a:highlight>
                  <a:srgbClr val="24292E"/>
                </a:highlight>
                <a:latin typeface="Consolas" panose="020B0609020204030204" pitchFamily="49" charset="0"/>
              </a:rPr>
              <a:t> et Barrel </a:t>
            </a:r>
            <a:r>
              <a:rPr lang="fr-FR" b="0" dirty="0" err="1">
                <a:solidFill>
                  <a:srgbClr val="E1E4E8"/>
                </a:solidFill>
                <a:effectLst/>
                <a:highlight>
                  <a:srgbClr val="24292E"/>
                </a:highlight>
                <a:latin typeface="Consolas" panose="020B0609020204030204" pitchFamily="49" charset="0"/>
              </a:rPr>
              <a:t>sample</a:t>
            </a:r>
            <a:endParaRPr lang="fr-FR" b="0" dirty="0">
              <a:solidFill>
                <a:srgbClr val="E1E4E8"/>
              </a:solidFill>
              <a:effectLst/>
              <a:highlight>
                <a:srgbClr val="24292E"/>
              </a:highlight>
              <a:latin typeface="Consolas" panose="020B0609020204030204" pitchFamily="49" charset="0"/>
            </a:endParaRPr>
          </a:p>
          <a:p>
            <a:r>
              <a:rPr lang="fr-FR" b="0" dirty="0">
                <a:solidFill>
                  <a:srgbClr val="FFAB70"/>
                </a:solidFill>
                <a:effectLst/>
                <a:highlight>
                  <a:srgbClr val="24292E"/>
                </a:highlight>
                <a:latin typeface="Consolas" panose="020B0609020204030204" pitchFamily="49" charset="0"/>
              </a:rPr>
              <a:t>-</a:t>
            </a:r>
            <a:r>
              <a:rPr lang="fr-FR" b="0" dirty="0">
                <a:solidFill>
                  <a:srgbClr val="E1E4E8"/>
                </a:solidFill>
                <a:effectLst/>
                <a:highlight>
                  <a:srgbClr val="24292E"/>
                </a:highlight>
                <a:latin typeface="Consolas" panose="020B0609020204030204" pitchFamily="49" charset="0"/>
              </a:rPr>
              <a:t> Province : </a:t>
            </a:r>
            <a:r>
              <a:rPr lang="fr-FR" b="0" dirty="0" err="1">
                <a:solidFill>
                  <a:srgbClr val="E1E4E8"/>
                </a:solidFill>
                <a:effectLst/>
                <a:highlight>
                  <a:srgbClr val="24292E"/>
                </a:highlight>
                <a:latin typeface="Consolas" panose="020B0609020204030204" pitchFamily="49" charset="0"/>
              </a:rPr>
              <a:t>Piemont</a:t>
            </a:r>
            <a:r>
              <a:rPr lang="fr-FR" b="0" dirty="0">
                <a:solidFill>
                  <a:srgbClr val="E1E4E8"/>
                </a:solidFill>
                <a:effectLst/>
                <a:highlight>
                  <a:srgbClr val="24292E"/>
                </a:highlight>
                <a:latin typeface="Consolas" panose="020B0609020204030204" pitchFamily="49" charset="0"/>
              </a:rPr>
              <a:t>, Burgundy et </a:t>
            </a:r>
            <a:r>
              <a:rPr lang="fr-FR" b="0" dirty="0" err="1">
                <a:solidFill>
                  <a:srgbClr val="E1E4E8"/>
                </a:solidFill>
                <a:effectLst/>
                <a:highlight>
                  <a:srgbClr val="24292E"/>
                </a:highlight>
                <a:latin typeface="Consolas" panose="020B0609020204030204" pitchFamily="49" charset="0"/>
              </a:rPr>
              <a:t>Tuscany</a:t>
            </a: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r>
              <a:rPr lang="fr-FR" b="0" dirty="0">
                <a:solidFill>
                  <a:srgbClr val="E1E4E8"/>
                </a:solidFill>
                <a:effectLst/>
                <a:highlight>
                  <a:srgbClr val="24292E"/>
                </a:highlight>
                <a:latin typeface="Consolas" panose="020B0609020204030204" pitchFamily="49" charset="0"/>
              </a:rPr>
              <a:t>En conclusion, il est difficile d'établir une relation entre les variables catégorielles et le prix des vins, même avec un clustering sur ces variables. Cependant, les derniers quartiles des catégories de vins ont une valeur plus élevée que les autres, ce qui peut indiquer une influence significative sur le prix des vins.</a:t>
            </a:r>
          </a:p>
          <a:p>
            <a:endParaRPr lang="fr-FR" b="0" dirty="0">
              <a:solidFill>
                <a:srgbClr val="E1E4E8"/>
              </a:solidFill>
              <a:effectLst/>
              <a:highlight>
                <a:srgbClr val="24292E"/>
              </a:highlight>
              <a:latin typeface="Consolas" panose="020B0609020204030204" pitchFamily="49" charset="0"/>
            </a:endParaRPr>
          </a:p>
          <a:p>
            <a:r>
              <a:rPr lang="fr-FR" b="0" dirty="0">
                <a:solidFill>
                  <a:srgbClr val="E1E4E8"/>
                </a:solidFill>
                <a:effectLst/>
                <a:highlight>
                  <a:srgbClr val="24292E"/>
                </a:highlight>
                <a:latin typeface="Consolas" panose="020B0609020204030204" pitchFamily="49" charset="0"/>
              </a:rPr>
              <a:t>Il sera donc préférable de prendre en considération les clusters dans nos analyses du marché et comparatives pour éviter d’avoir trop d’informations qui réduirait la clarté d’interprétation.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7</a:t>
            </a:fld>
            <a:endParaRPr lang="fr-FR"/>
          </a:p>
        </p:txBody>
      </p:sp>
    </p:spTree>
    <p:extLst>
      <p:ext uri="{BB962C8B-B14F-4D97-AF65-F5344CB8AC3E}">
        <p14:creationId xmlns:p14="http://schemas.microsoft.com/office/powerpoint/2010/main" val="2698952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8</a:t>
            </a:fld>
            <a:endParaRPr lang="fr-FR"/>
          </a:p>
        </p:txBody>
      </p:sp>
    </p:spTree>
    <p:extLst>
      <p:ext uri="{BB962C8B-B14F-4D97-AF65-F5344CB8AC3E}">
        <p14:creationId xmlns:p14="http://schemas.microsoft.com/office/powerpoint/2010/main" val="634630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 prenant en considération la qualité de votre vin, noté 94 points. La localisation de votre domaine , en bourgogne et la variété de votre vin, en fonction de votre stratégie, vous pouvez vous positionner de différentes façons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Prix compétitif pour s’</a:t>
            </a:r>
            <a:r>
              <a:rPr lang="fr-FR" dirty="0" err="1"/>
              <a:t>implenter</a:t>
            </a:r>
            <a:r>
              <a:rPr lang="fr-FR" dirty="0"/>
              <a:t> sur le marché de manière rapide et </a:t>
            </a:r>
            <a:r>
              <a:rPr lang="fr-FR" dirty="0" err="1"/>
              <a:t>aggressive</a:t>
            </a:r>
            <a:r>
              <a:rPr lang="fr-FR" dirty="0"/>
              <a:t>, je vous recommande de placer votre vin entre 56 et 79 $ ce qui ne prend pas en compte le millésime pour établir le prix. L’inconvénient sera de pouvoir se repositionner dans le temps sur un niveau médian à moyen en prenant en compte votre vin dans l’intégralité de ses caractéristiques.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FR"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Prix à la hauteur de la qualité de votre vin : Vous permettra de vous </a:t>
            </a:r>
            <a:r>
              <a:rPr lang="fr-FR" dirty="0" err="1"/>
              <a:t>implenter</a:t>
            </a:r>
            <a:r>
              <a:rPr lang="fr-FR" dirty="0"/>
              <a:t> sur le marché directement au niveau de prix correspondant à la qualité de votre vin dans son ensemble, c’est-à-dire le haut de gamme. La fourchette de prix devra s’établir aux alentours de 150 $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9</a:t>
            </a:fld>
            <a:endParaRPr lang="fr-FR"/>
          </a:p>
        </p:txBody>
      </p:sp>
    </p:spTree>
    <p:extLst>
      <p:ext uri="{BB962C8B-B14F-4D97-AF65-F5344CB8AC3E}">
        <p14:creationId xmlns:p14="http://schemas.microsoft.com/office/powerpoint/2010/main" val="2757697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b="0" dirty="0">
              <a:solidFill>
                <a:srgbClr val="E1E4E8"/>
              </a:solidFill>
              <a:effectLst/>
              <a:highlight>
                <a:srgbClr val="24292E"/>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L’outil d’analyse et de proposition de positionnement tel qu’il est pourrait évoluer et être amélioré.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Voici les pistes à considérer de mon point de vue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Amélioration de la visibilité du nuage de mot . L’objectif est de le rendre plus lisible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Mettre en place un encadrement des prix servant au positionnement plus adapter aux prix extrêmes (mise en place d’une valeur de quartile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Ajout d’un sélecteur de typologie de stratégie commerciale pour indiquer une fourchette de prix recommandé  (par exemple : Haut de gamme, ou alors prix agressif)</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Mise en place d’un modèle de prédiction prenant en considération les descriptions de chaque vin. Cela pourrait améliorer la pertinence d’une recommandation de prix en regroupant les vins équivalent en description.</a:t>
            </a:r>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10</a:t>
            </a:fld>
            <a:endParaRPr lang="fr-FR"/>
          </a:p>
        </p:txBody>
      </p:sp>
    </p:spTree>
    <p:extLst>
      <p:ext uri="{BB962C8B-B14F-4D97-AF65-F5344CB8AC3E}">
        <p14:creationId xmlns:p14="http://schemas.microsoft.com/office/powerpoint/2010/main" val="3455660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Merci pour votre attention.</a:t>
            </a:r>
          </a:p>
          <a:p>
            <a:endParaRPr lang="fr-FR" dirty="0"/>
          </a:p>
          <a:p>
            <a:r>
              <a:rPr lang="fr-FR" dirty="0"/>
              <a:t>Si vous avez des questions, des remarques , des propositions, je suis à votre écoute</a:t>
            </a:r>
          </a:p>
        </p:txBody>
      </p:sp>
      <p:sp>
        <p:nvSpPr>
          <p:cNvPr id="4" name="Espace réservé du numéro de diapositive 3"/>
          <p:cNvSpPr>
            <a:spLocks noGrp="1"/>
          </p:cNvSpPr>
          <p:nvPr>
            <p:ph type="sldNum" sz="quarter" idx="5"/>
          </p:nvPr>
        </p:nvSpPr>
        <p:spPr/>
        <p:txBody>
          <a:bodyPr/>
          <a:lstStyle/>
          <a:p>
            <a:fld id="{5B7CE601-8647-48C6-A183-5CE52C88268F}" type="slidenum">
              <a:rPr lang="fr-FR" smtClean="0"/>
              <a:t>11</a:t>
            </a:fld>
            <a:endParaRPr lang="fr-FR"/>
          </a:p>
        </p:txBody>
      </p:sp>
    </p:spTree>
    <p:extLst>
      <p:ext uri="{BB962C8B-B14F-4D97-AF65-F5344CB8AC3E}">
        <p14:creationId xmlns:p14="http://schemas.microsoft.com/office/powerpoint/2010/main" val="1564206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0E85CA-6524-E73A-3653-97E0C38E452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93482E7-4C78-AFF4-D5B8-45DD5DB806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CF0FCF2-13A5-133A-C0DF-F954C4AC36B8}"/>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5" name="Espace réservé du pied de page 4">
            <a:extLst>
              <a:ext uri="{FF2B5EF4-FFF2-40B4-BE49-F238E27FC236}">
                <a16:creationId xmlns:a16="http://schemas.microsoft.com/office/drawing/2014/main" id="{AF5E5958-9A7F-C3AF-2517-FB00BBB6277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F9EE4A-A31E-21CA-394A-525AE06A657D}"/>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3773843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F9CB8A-1946-0DF5-9F21-7B7E8EC5C640}"/>
              </a:ext>
            </a:extLst>
          </p:cNvPr>
          <p:cNvSpPr>
            <a:spLocks noGrp="1"/>
          </p:cNvSpPr>
          <p:nvPr>
            <p:ph type="title"/>
          </p:nvPr>
        </p:nvSpPr>
        <p:spPr>
          <a:xfrm>
            <a:off x="838200" y="365125"/>
            <a:ext cx="10515600" cy="1325563"/>
          </a:xfrm>
        </p:spPr>
        <p:txBody>
          <a:bodyPr/>
          <a:lstStyle/>
          <a:p>
            <a:r>
              <a:rPr lang="fr-FR"/>
              <a:t>Modifiez le style du titre</a:t>
            </a:r>
          </a:p>
        </p:txBody>
      </p:sp>
      <p:sp>
        <p:nvSpPr>
          <p:cNvPr id="3" name="Espace réservé du contenu 2">
            <a:extLst>
              <a:ext uri="{FF2B5EF4-FFF2-40B4-BE49-F238E27FC236}">
                <a16:creationId xmlns:a16="http://schemas.microsoft.com/office/drawing/2014/main" id="{5C6FA6FB-2F2C-2650-2BF1-66C5AE1919D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2FBBEDC-ACCD-CF96-975D-5E40809723B3}"/>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5" name="Espace réservé du pied de page 4">
            <a:extLst>
              <a:ext uri="{FF2B5EF4-FFF2-40B4-BE49-F238E27FC236}">
                <a16:creationId xmlns:a16="http://schemas.microsoft.com/office/drawing/2014/main" id="{5049D6FF-F7E0-3A7A-E50C-FA74F708425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49E864-181F-1262-A5B7-4A3CBFEFB281}"/>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2695505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5B6127-3A23-AB07-60AB-8ED33117CCC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E9C8FE8-EEA9-6F4A-6202-866E3AF6B2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A2B8FC6-095F-233C-EDF6-59FDDC54F41F}"/>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5" name="Espace réservé du pied de page 4">
            <a:extLst>
              <a:ext uri="{FF2B5EF4-FFF2-40B4-BE49-F238E27FC236}">
                <a16:creationId xmlns:a16="http://schemas.microsoft.com/office/drawing/2014/main" id="{97691100-E74D-87A0-8D16-CFA334DA419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C8F6007-9B26-34AB-A8F7-2ACE5970ED81}"/>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134436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A585FE-EC7C-4852-682F-5FF30A93799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691BD0D-42C2-70B7-C098-CDD5B173F20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9A6EB0F-8405-2D95-BCEE-FF956545189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092F92A-4038-87FD-A8F9-768EDB4F45F1}"/>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6" name="Espace réservé du pied de page 5">
            <a:extLst>
              <a:ext uri="{FF2B5EF4-FFF2-40B4-BE49-F238E27FC236}">
                <a16:creationId xmlns:a16="http://schemas.microsoft.com/office/drawing/2014/main" id="{F4D6902D-AED7-9A6E-E6BC-F0E549A190A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C9D1E31-F4BE-69A1-01A1-6CE3DF2B5EA0}"/>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3884437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F9ADC2-A54B-9A54-97D5-81240E442DB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B4EE235-CC02-9081-8052-38210F1D7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890CFFC-F44C-FE1F-3FE1-781D8825324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B0885F9-E239-0158-23DD-EAA03E2C1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D2460D0-622F-A073-AC62-D23813EDE96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FE31302-2459-DD15-8B7B-B810FA8788EC}"/>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8" name="Espace réservé du pied de page 7">
            <a:extLst>
              <a:ext uri="{FF2B5EF4-FFF2-40B4-BE49-F238E27FC236}">
                <a16:creationId xmlns:a16="http://schemas.microsoft.com/office/drawing/2014/main" id="{D87BFAD7-703A-2625-AC95-7EF0B2B450C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65F1B12-8611-8D15-46EB-3463ED203DCD}"/>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2413245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6EA9D-99F8-E22C-FDD7-0F91CB6D637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A7B44EB-AF65-AA51-9E07-BFEE432FF337}"/>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4" name="Espace réservé du pied de page 3">
            <a:extLst>
              <a:ext uri="{FF2B5EF4-FFF2-40B4-BE49-F238E27FC236}">
                <a16:creationId xmlns:a16="http://schemas.microsoft.com/office/drawing/2014/main" id="{4D8EC401-CC76-5BF6-1DEE-6CC82E0ED87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0A4EC9D-7242-D0B3-7818-14140CA4A738}"/>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869167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28DC784-CF4D-5140-2710-EDBB7AEACA53}"/>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3" name="Espace réservé du pied de page 2">
            <a:extLst>
              <a:ext uri="{FF2B5EF4-FFF2-40B4-BE49-F238E27FC236}">
                <a16:creationId xmlns:a16="http://schemas.microsoft.com/office/drawing/2014/main" id="{B78DFB9E-8DD6-EBDA-D42D-5141904DDD4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F2C6CC8-A70B-E0A6-0227-F5F7DD4B3986}"/>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321869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679799-F455-BB67-1516-AC88026F337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8E6BA6F-FC1E-B1A0-B2F3-50773432DE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B78F72C-5F9F-C8EB-9788-347D14DF9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1D59A75-1F97-7977-D1B0-945BFEF52D3B}"/>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6" name="Espace réservé du pied de page 5">
            <a:extLst>
              <a:ext uri="{FF2B5EF4-FFF2-40B4-BE49-F238E27FC236}">
                <a16:creationId xmlns:a16="http://schemas.microsoft.com/office/drawing/2014/main" id="{D902422F-C183-054C-0541-B19742B08E9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A4E8F5A-7CAA-67DC-1086-D34D7CEB61EA}"/>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414319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8812FC-20B2-1E09-E9DA-584EE9B8ECE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85A468A-BEB0-A789-3936-4AD152C9E4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6812AD9-DA35-833F-9449-36606A2AD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5216287-CB75-8A58-F306-D63AD1630F19}"/>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6" name="Espace réservé du pied de page 5">
            <a:extLst>
              <a:ext uri="{FF2B5EF4-FFF2-40B4-BE49-F238E27FC236}">
                <a16:creationId xmlns:a16="http://schemas.microsoft.com/office/drawing/2014/main" id="{197C3F2C-3931-D1D3-9BFC-3A98C1178C5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7DF85D4-24E7-F505-4E2C-0A0490F3C16B}"/>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125830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308112-02A6-D288-8414-B3BDC6EA16D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C1C2477-9B24-8B10-C37A-8F7B07E4AED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66D650-0EDB-BFF9-6AE3-86B2B98DC254}"/>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5" name="Espace réservé du pied de page 4">
            <a:extLst>
              <a:ext uri="{FF2B5EF4-FFF2-40B4-BE49-F238E27FC236}">
                <a16:creationId xmlns:a16="http://schemas.microsoft.com/office/drawing/2014/main" id="{B920F7A9-A181-225B-E430-5AA7F1DD02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6C2060F-C8C7-B07C-216F-EB06F70E4D30}"/>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910877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06D95A1-311D-86E5-B1C6-FEC676EBEED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76A7D9A-3480-56C6-DECC-1E28FFFD69D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B685D20-A1FF-B90C-DF7C-BCC680838E85}"/>
              </a:ext>
            </a:extLst>
          </p:cNvPr>
          <p:cNvSpPr>
            <a:spLocks noGrp="1"/>
          </p:cNvSpPr>
          <p:nvPr>
            <p:ph type="dt" sz="half" idx="10"/>
          </p:nvPr>
        </p:nvSpPr>
        <p:spPr/>
        <p:txBody>
          <a:bodyPr/>
          <a:lstStyle/>
          <a:p>
            <a:fld id="{15E581AC-5198-4DBA-B5FF-9AF57602A51A}" type="datetimeFigureOut">
              <a:rPr lang="fr-FR" smtClean="0"/>
              <a:t>16/07/2024</a:t>
            </a:fld>
            <a:endParaRPr lang="fr-FR"/>
          </a:p>
        </p:txBody>
      </p:sp>
      <p:sp>
        <p:nvSpPr>
          <p:cNvPr id="5" name="Espace réservé du pied de page 4">
            <a:extLst>
              <a:ext uri="{FF2B5EF4-FFF2-40B4-BE49-F238E27FC236}">
                <a16:creationId xmlns:a16="http://schemas.microsoft.com/office/drawing/2014/main" id="{EFA7F01A-F4D8-EAC7-1BD0-0B6033A5CB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1B5A4A9-DBF3-F345-99DE-1466361BB8AC}"/>
              </a:ext>
            </a:extLst>
          </p:cNvPr>
          <p:cNvSpPr>
            <a:spLocks noGrp="1"/>
          </p:cNvSpPr>
          <p:nvPr>
            <p:ph type="sldNum" sz="quarter" idx="12"/>
          </p:nvPr>
        </p:nvSpPr>
        <p:spPr/>
        <p:txBody>
          <a:bodyPr/>
          <a:lstStyle/>
          <a:p>
            <a:fld id="{21A28091-2120-43B0-9D80-6BBCCD45C892}" type="slidenum">
              <a:rPr lang="fr-FR" smtClean="0"/>
              <a:t>‹N°›</a:t>
            </a:fld>
            <a:endParaRPr lang="fr-FR"/>
          </a:p>
        </p:txBody>
      </p:sp>
    </p:spTree>
    <p:extLst>
      <p:ext uri="{BB962C8B-B14F-4D97-AF65-F5344CB8AC3E}">
        <p14:creationId xmlns:p14="http://schemas.microsoft.com/office/powerpoint/2010/main" val="3725352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AA95433-6060-C734-06AC-C95E45E9ED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A38D66D-864C-4F5C-67A1-A00ECBC9C8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5C55E4-C73D-322B-0674-F523F43D00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E581AC-5198-4DBA-B5FF-9AF57602A51A}" type="datetimeFigureOut">
              <a:rPr lang="fr-FR" smtClean="0"/>
              <a:t>16/07/2024</a:t>
            </a:fld>
            <a:endParaRPr lang="fr-FR"/>
          </a:p>
        </p:txBody>
      </p:sp>
      <p:sp>
        <p:nvSpPr>
          <p:cNvPr id="5" name="Espace réservé du pied de page 4">
            <a:extLst>
              <a:ext uri="{FF2B5EF4-FFF2-40B4-BE49-F238E27FC236}">
                <a16:creationId xmlns:a16="http://schemas.microsoft.com/office/drawing/2014/main" id="{ABDC7EEB-D7C2-6FD7-7CCE-EC6BD04E54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A178E00-2F70-5F43-EAF2-61458DBCD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A28091-2120-43B0-9D80-6BBCCD45C892}" type="slidenum">
              <a:rPr lang="fr-FR" smtClean="0"/>
              <a:t>‹N°›</a:t>
            </a:fld>
            <a:endParaRPr lang="fr-FR"/>
          </a:p>
        </p:txBody>
      </p:sp>
      <p:pic>
        <p:nvPicPr>
          <p:cNvPr id="7" name="Image 6" descr="Une image contenant Bouteille en verre, bouteille de vin, Pompe à vin, bouteille&#10;&#10;Description générée automatiquement">
            <a:extLst>
              <a:ext uri="{FF2B5EF4-FFF2-40B4-BE49-F238E27FC236}">
                <a16:creationId xmlns:a16="http://schemas.microsoft.com/office/drawing/2014/main" id="{77EC2AED-564E-5E4B-E40E-CABDAF15719F}"/>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tretch>
            <a:fillRect/>
          </a:stretch>
        </p:blipFill>
        <p:spPr>
          <a:xfrm rot="19779153">
            <a:off x="8290560" y="3078860"/>
            <a:ext cx="3877056" cy="5400294"/>
          </a:xfrm>
          <a:prstGeom prst="rect">
            <a:avLst/>
          </a:prstGeom>
          <a:effectLst>
            <a:softEdge rad="0"/>
          </a:effectLst>
        </p:spPr>
      </p:pic>
      <p:sp>
        <p:nvSpPr>
          <p:cNvPr id="12" name="Ellipse 11">
            <a:extLst>
              <a:ext uri="{FF2B5EF4-FFF2-40B4-BE49-F238E27FC236}">
                <a16:creationId xmlns:a16="http://schemas.microsoft.com/office/drawing/2014/main" id="{F21B2D77-A572-B6AF-A682-AFF9D06E3755}"/>
              </a:ext>
            </a:extLst>
          </p:cNvPr>
          <p:cNvSpPr/>
          <p:nvPr userDrawn="1"/>
        </p:nvSpPr>
        <p:spPr>
          <a:xfrm>
            <a:off x="-1739647" y="-201168"/>
            <a:ext cx="3605023" cy="7370064"/>
          </a:xfrm>
          <a:prstGeom prst="ellipse">
            <a:avLst/>
          </a:prstGeom>
          <a:solidFill>
            <a:srgbClr val="6B2328"/>
          </a:solidFill>
          <a:ln w="57150">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 name="Groupe 15">
            <a:extLst>
              <a:ext uri="{FF2B5EF4-FFF2-40B4-BE49-F238E27FC236}">
                <a16:creationId xmlns:a16="http://schemas.microsoft.com/office/drawing/2014/main" id="{C2C8BB9E-F5BE-4AF2-D2BA-302AF8F454AC}"/>
              </a:ext>
            </a:extLst>
          </p:cNvPr>
          <p:cNvGrpSpPr/>
          <p:nvPr userDrawn="1"/>
        </p:nvGrpSpPr>
        <p:grpSpPr>
          <a:xfrm>
            <a:off x="9670953" y="136525"/>
            <a:ext cx="1970062" cy="1211226"/>
            <a:chOff x="9670953" y="136525"/>
            <a:chExt cx="1970062" cy="1211226"/>
          </a:xfrm>
        </p:grpSpPr>
        <p:sp>
          <p:nvSpPr>
            <p:cNvPr id="14" name="Rectangle 13">
              <a:extLst>
                <a:ext uri="{FF2B5EF4-FFF2-40B4-BE49-F238E27FC236}">
                  <a16:creationId xmlns:a16="http://schemas.microsoft.com/office/drawing/2014/main" id="{AA0B35E0-3173-8FDF-8AF2-1804584D7200}"/>
                </a:ext>
              </a:extLst>
            </p:cNvPr>
            <p:cNvSpPr/>
            <p:nvPr userDrawn="1"/>
          </p:nvSpPr>
          <p:spPr>
            <a:xfrm>
              <a:off x="9724292" y="136525"/>
              <a:ext cx="1916723" cy="12112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bg1">
                    <a:lumMod val="50000"/>
                  </a:schemeClr>
                </a:solidFill>
              </a:endParaRPr>
            </a:p>
          </p:txBody>
        </p:sp>
        <p:grpSp>
          <p:nvGrpSpPr>
            <p:cNvPr id="8" name="Groupe 7">
              <a:extLst>
                <a:ext uri="{FF2B5EF4-FFF2-40B4-BE49-F238E27FC236}">
                  <a16:creationId xmlns:a16="http://schemas.microsoft.com/office/drawing/2014/main" id="{ABFB4B72-A063-86DE-6388-72705E556140}"/>
                </a:ext>
              </a:extLst>
            </p:cNvPr>
            <p:cNvGrpSpPr/>
            <p:nvPr userDrawn="1"/>
          </p:nvGrpSpPr>
          <p:grpSpPr>
            <a:xfrm>
              <a:off x="9670953" y="203100"/>
              <a:ext cx="1873730" cy="1144651"/>
              <a:chOff x="1799902" y="1030287"/>
              <a:chExt cx="1757114" cy="950278"/>
            </a:xfrm>
          </p:grpSpPr>
          <p:sp>
            <p:nvSpPr>
              <p:cNvPr id="11" name="Ellipse 10">
                <a:extLst>
                  <a:ext uri="{FF2B5EF4-FFF2-40B4-BE49-F238E27FC236}">
                    <a16:creationId xmlns:a16="http://schemas.microsoft.com/office/drawing/2014/main" id="{47930FAD-AEA3-4E4B-1C3E-4304D5E7D2E3}"/>
                  </a:ext>
                </a:extLst>
              </p:cNvPr>
              <p:cNvSpPr/>
              <p:nvPr/>
            </p:nvSpPr>
            <p:spPr>
              <a:xfrm>
                <a:off x="1915667" y="1030287"/>
                <a:ext cx="1641349" cy="950278"/>
              </a:xfrm>
              <a:custGeom>
                <a:avLst/>
                <a:gdLst>
                  <a:gd name="connsiteX0" fmla="*/ 0 w 1641349"/>
                  <a:gd name="connsiteY0" fmla="*/ 475139 h 950278"/>
                  <a:gd name="connsiteX1" fmla="*/ 820675 w 1641349"/>
                  <a:gd name="connsiteY1" fmla="*/ 0 h 950278"/>
                  <a:gd name="connsiteX2" fmla="*/ 1641350 w 1641349"/>
                  <a:gd name="connsiteY2" fmla="*/ 475139 h 950278"/>
                  <a:gd name="connsiteX3" fmla="*/ 820675 w 1641349"/>
                  <a:gd name="connsiteY3" fmla="*/ 950278 h 950278"/>
                  <a:gd name="connsiteX4" fmla="*/ 0 w 1641349"/>
                  <a:gd name="connsiteY4" fmla="*/ 475139 h 950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349" h="950278" fill="none" extrusionOk="0">
                    <a:moveTo>
                      <a:pt x="0" y="475139"/>
                    </a:moveTo>
                    <a:cubicBezTo>
                      <a:pt x="-6027" y="292781"/>
                      <a:pt x="378480" y="-31229"/>
                      <a:pt x="820675" y="0"/>
                    </a:cubicBezTo>
                    <a:cubicBezTo>
                      <a:pt x="1245716" y="12983"/>
                      <a:pt x="1628169" y="188059"/>
                      <a:pt x="1641350" y="475139"/>
                    </a:cubicBezTo>
                    <a:cubicBezTo>
                      <a:pt x="1720957" y="782313"/>
                      <a:pt x="1183634" y="882193"/>
                      <a:pt x="820675" y="950278"/>
                    </a:cubicBezTo>
                    <a:cubicBezTo>
                      <a:pt x="340480" y="954685"/>
                      <a:pt x="-46047" y="781873"/>
                      <a:pt x="0" y="475139"/>
                    </a:cubicBezTo>
                    <a:close/>
                  </a:path>
                  <a:path w="1641349" h="950278" stroke="0" extrusionOk="0">
                    <a:moveTo>
                      <a:pt x="0" y="475139"/>
                    </a:moveTo>
                    <a:cubicBezTo>
                      <a:pt x="54821" y="280004"/>
                      <a:pt x="411858" y="97251"/>
                      <a:pt x="820675" y="0"/>
                    </a:cubicBezTo>
                    <a:cubicBezTo>
                      <a:pt x="1279449" y="260"/>
                      <a:pt x="1661127" y="144514"/>
                      <a:pt x="1641350" y="475139"/>
                    </a:cubicBezTo>
                    <a:cubicBezTo>
                      <a:pt x="1628561" y="768964"/>
                      <a:pt x="1264218" y="934680"/>
                      <a:pt x="820675" y="950278"/>
                    </a:cubicBezTo>
                    <a:cubicBezTo>
                      <a:pt x="306727" y="910088"/>
                      <a:pt x="-47749" y="769086"/>
                      <a:pt x="0" y="475139"/>
                    </a:cubicBezTo>
                    <a:close/>
                  </a:path>
                </a:pathLst>
              </a:custGeom>
              <a:solidFill>
                <a:schemeClr val="bg1"/>
              </a:solidFill>
              <a:ln w="28575">
                <a:solidFill>
                  <a:srgbClr val="800000"/>
                </a:solidFill>
                <a:extLst>
                  <a:ext uri="{C807C97D-BFC1-408E-A445-0C87EB9F89A2}">
                    <ask:lineSketchStyleProps xmlns:ask="http://schemas.microsoft.com/office/drawing/2018/sketchyshapes" sd="161242570">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E8E64C17-5252-0FE0-6D01-E18C9D304991}"/>
                  </a:ext>
                </a:extLst>
              </p:cNvPr>
              <p:cNvPicPr>
                <a:picLocks noChangeAspect="1"/>
              </p:cNvPicPr>
              <p:nvPr/>
            </p:nvPicPr>
            <p:blipFill>
              <a:blip r:embed="rId14">
                <a:extLst>
                  <a:ext uri="{28A0092B-C50C-407E-A947-70E740481C1C}">
                    <a14:useLocalDpi xmlns:a14="http://schemas.microsoft.com/office/drawing/2010/main" val="0"/>
                  </a:ext>
                </a:extLst>
              </a:blip>
              <a:srcRect t="446" b="446"/>
              <a:stretch/>
            </p:blipFill>
            <p:spPr>
              <a:xfrm rot="519373">
                <a:off x="2593728" y="1092795"/>
                <a:ext cx="915595" cy="773860"/>
              </a:xfrm>
              <a:prstGeom prst="rect">
                <a:avLst/>
              </a:prstGeom>
            </p:spPr>
          </p:pic>
          <p:sp>
            <p:nvSpPr>
              <p:cNvPr id="10" name="ZoneTexte 9">
                <a:extLst>
                  <a:ext uri="{FF2B5EF4-FFF2-40B4-BE49-F238E27FC236}">
                    <a16:creationId xmlns:a16="http://schemas.microsoft.com/office/drawing/2014/main" id="{0BF2B107-239D-4B54-FD15-AA6AEF6BAF81}"/>
                  </a:ext>
                </a:extLst>
              </p:cNvPr>
              <p:cNvSpPr txBox="1"/>
              <p:nvPr/>
            </p:nvSpPr>
            <p:spPr>
              <a:xfrm rot="19880795">
                <a:off x="1799902" y="1229822"/>
                <a:ext cx="1088136" cy="689886"/>
              </a:xfrm>
              <a:prstGeom prst="rect">
                <a:avLst/>
              </a:prstGeom>
              <a:noFill/>
            </p:spPr>
            <p:txBody>
              <a:bodyPr wrap="square" rtlCol="0">
                <a:spAutoFit/>
              </a:bodyPr>
              <a:lstStyle/>
              <a:p>
                <a:pPr algn="ctr"/>
                <a:r>
                  <a:rPr lang="fr-FR" sz="2400" b="1" dirty="0">
                    <a:solidFill>
                      <a:schemeClr val="bg2">
                        <a:lumMod val="25000"/>
                      </a:schemeClr>
                    </a:solidFill>
                    <a:latin typeface="Agency FB" panose="020B0503020202020204" pitchFamily="34" charset="0"/>
                  </a:rPr>
                  <a:t>DATA</a:t>
                </a:r>
              </a:p>
              <a:p>
                <a:pPr algn="ctr"/>
                <a:r>
                  <a:rPr lang="fr-FR" sz="2400" b="1" dirty="0">
                    <a:solidFill>
                      <a:schemeClr val="bg2">
                        <a:lumMod val="25000"/>
                      </a:schemeClr>
                    </a:solidFill>
                    <a:latin typeface="Agency FB" panose="020B0503020202020204" pitchFamily="34" charset="0"/>
                  </a:rPr>
                  <a:t>20</a:t>
                </a:r>
              </a:p>
            </p:txBody>
          </p:sp>
        </p:grpSp>
        <p:sp>
          <p:nvSpPr>
            <p:cNvPr id="13" name="Ellipse 12">
              <a:extLst>
                <a:ext uri="{FF2B5EF4-FFF2-40B4-BE49-F238E27FC236}">
                  <a16:creationId xmlns:a16="http://schemas.microsoft.com/office/drawing/2014/main" id="{54171AAA-E153-0F3E-26A9-98ED8F48061D}"/>
                </a:ext>
              </a:extLst>
            </p:cNvPr>
            <p:cNvSpPr/>
            <p:nvPr userDrawn="1"/>
          </p:nvSpPr>
          <p:spPr>
            <a:xfrm>
              <a:off x="9794401" y="172083"/>
              <a:ext cx="1750282" cy="1144651"/>
            </a:xfrm>
            <a:custGeom>
              <a:avLst/>
              <a:gdLst>
                <a:gd name="connsiteX0" fmla="*/ 0 w 1750282"/>
                <a:gd name="connsiteY0" fmla="*/ 572326 h 1144651"/>
                <a:gd name="connsiteX1" fmla="*/ 875141 w 1750282"/>
                <a:gd name="connsiteY1" fmla="*/ 0 h 1144651"/>
                <a:gd name="connsiteX2" fmla="*/ 1750282 w 1750282"/>
                <a:gd name="connsiteY2" fmla="*/ 572326 h 1144651"/>
                <a:gd name="connsiteX3" fmla="*/ 875141 w 1750282"/>
                <a:gd name="connsiteY3" fmla="*/ 1144652 h 1144651"/>
                <a:gd name="connsiteX4" fmla="*/ 0 w 1750282"/>
                <a:gd name="connsiteY4" fmla="*/ 572326 h 1144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0282" h="1144651" extrusionOk="0">
                  <a:moveTo>
                    <a:pt x="0" y="572326"/>
                  </a:moveTo>
                  <a:cubicBezTo>
                    <a:pt x="39187" y="304330"/>
                    <a:pt x="440321" y="106180"/>
                    <a:pt x="875141" y="0"/>
                  </a:cubicBezTo>
                  <a:cubicBezTo>
                    <a:pt x="1391931" y="1577"/>
                    <a:pt x="1766413" y="200604"/>
                    <a:pt x="1750282" y="572326"/>
                  </a:cubicBezTo>
                  <a:cubicBezTo>
                    <a:pt x="1735318" y="925169"/>
                    <a:pt x="1310855" y="1068111"/>
                    <a:pt x="875141" y="1144652"/>
                  </a:cubicBezTo>
                  <a:cubicBezTo>
                    <a:pt x="343774" y="1112845"/>
                    <a:pt x="-62300" y="929558"/>
                    <a:pt x="0" y="572326"/>
                  </a:cubicBezTo>
                  <a:close/>
                </a:path>
              </a:pathLst>
            </a:custGeom>
            <a:noFill/>
            <a:ln w="28575">
              <a:solidFill>
                <a:srgbClr val="800000"/>
              </a:solidFill>
              <a:extLst>
                <a:ext uri="{C807C97D-BFC1-408E-A445-0C87EB9F89A2}">
                  <ask:lineSketchStyleProps xmlns:ask="http://schemas.microsoft.com/office/drawing/2018/sketchyshapes" sd="161242570">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813978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728795-04CA-62E1-C4E7-027A9F573B8E}"/>
              </a:ext>
            </a:extLst>
          </p:cNvPr>
          <p:cNvSpPr>
            <a:spLocks noGrp="1"/>
          </p:cNvSpPr>
          <p:nvPr>
            <p:ph type="ctrTitle"/>
          </p:nvPr>
        </p:nvSpPr>
        <p:spPr>
          <a:xfrm>
            <a:off x="1962912" y="2137347"/>
            <a:ext cx="9144000" cy="2387600"/>
          </a:xfrm>
        </p:spPr>
        <p:txBody>
          <a:bodyPr>
            <a:normAutofit/>
          </a:bodyPr>
          <a:lstStyle/>
          <a:p>
            <a:r>
              <a:rPr lang="fr-FR" sz="8000" i="1" dirty="0">
                <a:latin typeface="Aharoni" panose="020F0502020204030204" pitchFamily="2" charset="-79"/>
                <a:cs typeface="Aharoni" panose="020F0502020204030204" pitchFamily="2" charset="-79"/>
              </a:rPr>
              <a:t>Etude de marché Vin</a:t>
            </a:r>
          </a:p>
        </p:txBody>
      </p:sp>
      <p:sp>
        <p:nvSpPr>
          <p:cNvPr id="16" name="ZoneTexte 15">
            <a:extLst>
              <a:ext uri="{FF2B5EF4-FFF2-40B4-BE49-F238E27FC236}">
                <a16:creationId xmlns:a16="http://schemas.microsoft.com/office/drawing/2014/main" id="{4EBAD86D-BE51-B7E8-2483-5870062D7603}"/>
              </a:ext>
            </a:extLst>
          </p:cNvPr>
          <p:cNvSpPr txBox="1"/>
          <p:nvPr/>
        </p:nvSpPr>
        <p:spPr>
          <a:xfrm>
            <a:off x="2187018" y="4797400"/>
            <a:ext cx="7522588" cy="369332"/>
          </a:xfrm>
          <a:prstGeom prst="rect">
            <a:avLst/>
          </a:prstGeom>
          <a:noFill/>
        </p:spPr>
        <p:txBody>
          <a:bodyPr wrap="square">
            <a:spAutoFit/>
          </a:bodyPr>
          <a:lstStyle/>
          <a:p>
            <a:r>
              <a:rPr lang="fr-FR" dirty="0"/>
              <a:t>Analyse des données pour la prise de décision sur le prix à appliquer</a:t>
            </a:r>
          </a:p>
        </p:txBody>
      </p:sp>
      <p:sp>
        <p:nvSpPr>
          <p:cNvPr id="3" name="ZoneTexte 2">
            <a:extLst>
              <a:ext uri="{FF2B5EF4-FFF2-40B4-BE49-F238E27FC236}">
                <a16:creationId xmlns:a16="http://schemas.microsoft.com/office/drawing/2014/main" id="{C9645D7E-3016-BC35-95F9-CD8EB9041FF2}"/>
              </a:ext>
            </a:extLst>
          </p:cNvPr>
          <p:cNvSpPr txBox="1"/>
          <p:nvPr/>
        </p:nvSpPr>
        <p:spPr>
          <a:xfrm>
            <a:off x="4752494" y="5791200"/>
            <a:ext cx="3564835" cy="369332"/>
          </a:xfrm>
          <a:prstGeom prst="rect">
            <a:avLst/>
          </a:prstGeom>
          <a:noFill/>
        </p:spPr>
        <p:txBody>
          <a:bodyPr wrap="square" rtlCol="0">
            <a:spAutoFit/>
          </a:bodyPr>
          <a:lstStyle/>
          <a:p>
            <a:pPr algn="ctr"/>
            <a:r>
              <a:rPr lang="fr-FR" dirty="0">
                <a:effectLst>
                  <a:outerShdw blurRad="38100" dist="38100" dir="2700000" algn="tl">
                    <a:srgbClr val="000000">
                      <a:alpha val="43137"/>
                    </a:srgbClr>
                  </a:outerShdw>
                </a:effectLst>
              </a:rPr>
              <a:t>17/07/2024</a:t>
            </a:r>
          </a:p>
        </p:txBody>
      </p:sp>
    </p:spTree>
    <p:extLst>
      <p:ext uri="{BB962C8B-B14F-4D97-AF65-F5344CB8AC3E}">
        <p14:creationId xmlns:p14="http://schemas.microsoft.com/office/powerpoint/2010/main" val="224789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dirty="0"/>
              <a:t>Introduction - Contexte</a:t>
            </a:r>
          </a:p>
        </p:txBody>
      </p:sp>
      <p:sp>
        <p:nvSpPr>
          <p:cNvPr id="3" name="Espace réservé du contenu 2">
            <a:extLst>
              <a:ext uri="{FF2B5EF4-FFF2-40B4-BE49-F238E27FC236}">
                <a16:creationId xmlns:a16="http://schemas.microsoft.com/office/drawing/2014/main" id="{8E86F983-31C2-2961-BAEA-EE9CD0032626}"/>
              </a:ext>
            </a:extLst>
          </p:cNvPr>
          <p:cNvSpPr>
            <a:spLocks noGrp="1"/>
          </p:cNvSpPr>
          <p:nvPr>
            <p:ph idx="1"/>
          </p:nvPr>
        </p:nvSpPr>
        <p:spPr>
          <a:xfrm>
            <a:off x="2403833" y="1910466"/>
            <a:ext cx="9238267" cy="1603375"/>
          </a:xfrm>
        </p:spPr>
        <p:txBody>
          <a:bodyPr>
            <a:normAutofit fontScale="85000" lnSpcReduction="20000"/>
          </a:bodyPr>
          <a:lstStyle/>
          <a:p>
            <a:pPr marL="0" indent="0">
              <a:buNone/>
            </a:pPr>
            <a:r>
              <a:rPr lang="fr-FR" dirty="0"/>
              <a:t>Notre client cherche à se lancer sur le marché Américain</a:t>
            </a:r>
          </a:p>
          <a:p>
            <a:pPr lvl="1"/>
            <a:endParaRPr lang="fr-FR" sz="1000" dirty="0"/>
          </a:p>
          <a:p>
            <a:pPr lvl="1"/>
            <a:r>
              <a:rPr lang="fr-FR" dirty="0"/>
              <a:t>Quel est le positionnement des concurrents similaires ?</a:t>
            </a:r>
          </a:p>
          <a:p>
            <a:pPr lvl="1"/>
            <a:endParaRPr lang="fr-FR" dirty="0"/>
          </a:p>
          <a:p>
            <a:pPr lvl="1"/>
            <a:r>
              <a:rPr lang="fr-FR" dirty="0"/>
              <a:t>Quel est le prix idéal pour son produit ? Quelle est la stratégie de positionnement ?</a:t>
            </a:r>
          </a:p>
        </p:txBody>
      </p:sp>
      <p:sp>
        <p:nvSpPr>
          <p:cNvPr id="4" name="Espace réservé du contenu 2">
            <a:extLst>
              <a:ext uri="{FF2B5EF4-FFF2-40B4-BE49-F238E27FC236}">
                <a16:creationId xmlns:a16="http://schemas.microsoft.com/office/drawing/2014/main" id="{74BE6C1E-291C-D489-FB6A-62415281380F}"/>
              </a:ext>
            </a:extLst>
          </p:cNvPr>
          <p:cNvSpPr txBox="1">
            <a:spLocks/>
          </p:cNvSpPr>
          <p:nvPr/>
        </p:nvSpPr>
        <p:spPr>
          <a:xfrm>
            <a:off x="2403834" y="4375246"/>
            <a:ext cx="9238267"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400" dirty="0"/>
              <a:t>Nous disposons :</a:t>
            </a:r>
          </a:p>
          <a:p>
            <a:pPr lvl="1"/>
            <a:endParaRPr lang="fr-FR" sz="1000" dirty="0"/>
          </a:p>
          <a:p>
            <a:pPr lvl="1"/>
            <a:r>
              <a:rPr lang="fr-FR" sz="2000" dirty="0"/>
              <a:t>Dataset du marché américain ( ~130 k bouteilles)</a:t>
            </a:r>
          </a:p>
          <a:p>
            <a:pPr lvl="1"/>
            <a:r>
              <a:rPr lang="fr-FR" sz="2000" dirty="0"/>
              <a:t>Les informations pour le produit du client</a:t>
            </a:r>
          </a:p>
        </p:txBody>
      </p:sp>
    </p:spTree>
    <p:extLst>
      <p:ext uri="{BB962C8B-B14F-4D97-AF65-F5344CB8AC3E}">
        <p14:creationId xmlns:p14="http://schemas.microsoft.com/office/powerpoint/2010/main" val="1577770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3B582B4E-4230-9ACB-F1F8-3C0C11A0334D}"/>
              </a:ext>
            </a:extLst>
          </p:cNvPr>
          <p:cNvPicPr>
            <a:picLocks noChangeAspect="1"/>
          </p:cNvPicPr>
          <p:nvPr/>
        </p:nvPicPr>
        <p:blipFill>
          <a:blip r:embed="rId3"/>
          <a:stretch>
            <a:fillRect/>
          </a:stretch>
        </p:blipFill>
        <p:spPr>
          <a:xfrm>
            <a:off x="3374658" y="1690688"/>
            <a:ext cx="4788681" cy="3865111"/>
          </a:xfrm>
          <a:prstGeom prst="rect">
            <a:avLst/>
          </a:prstGeom>
        </p:spPr>
      </p:pic>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a:t>Analyse exploratoire des données</a:t>
            </a:r>
            <a:endParaRPr lang="fr-FR" b="1" dirty="0"/>
          </a:p>
        </p:txBody>
      </p:sp>
      <p:pic>
        <p:nvPicPr>
          <p:cNvPr id="6" name="Image 5">
            <a:extLst>
              <a:ext uri="{FF2B5EF4-FFF2-40B4-BE49-F238E27FC236}">
                <a16:creationId xmlns:a16="http://schemas.microsoft.com/office/drawing/2014/main" id="{699BB80F-F03E-B351-CC9C-C5F000F539A8}"/>
              </a:ext>
            </a:extLst>
          </p:cNvPr>
          <p:cNvPicPr>
            <a:picLocks noChangeAspect="1"/>
          </p:cNvPicPr>
          <p:nvPr/>
        </p:nvPicPr>
        <p:blipFill>
          <a:blip r:embed="rId4"/>
          <a:stretch>
            <a:fillRect/>
          </a:stretch>
        </p:blipFill>
        <p:spPr>
          <a:xfrm>
            <a:off x="2356700" y="1690688"/>
            <a:ext cx="6231117" cy="3947534"/>
          </a:xfrm>
          <a:prstGeom prst="rect">
            <a:avLst/>
          </a:prstGeom>
        </p:spPr>
      </p:pic>
      <p:sp>
        <p:nvSpPr>
          <p:cNvPr id="9" name="ZoneTexte 8">
            <a:extLst>
              <a:ext uri="{FF2B5EF4-FFF2-40B4-BE49-F238E27FC236}">
                <a16:creationId xmlns:a16="http://schemas.microsoft.com/office/drawing/2014/main" id="{F50BCFC3-7775-7EBA-1A09-2E40DFA6E79F}"/>
              </a:ext>
            </a:extLst>
          </p:cNvPr>
          <p:cNvSpPr txBox="1"/>
          <p:nvPr/>
        </p:nvSpPr>
        <p:spPr>
          <a:xfrm>
            <a:off x="2224726" y="5835192"/>
            <a:ext cx="6231117" cy="369332"/>
          </a:xfrm>
          <a:prstGeom prst="rect">
            <a:avLst/>
          </a:prstGeom>
          <a:noFill/>
        </p:spPr>
        <p:txBody>
          <a:bodyPr wrap="square" rtlCol="0">
            <a:spAutoFit/>
          </a:bodyPr>
          <a:lstStyle/>
          <a:p>
            <a:r>
              <a:rPr lang="fr-FR" dirty="0"/>
              <a:t>Nous avons à disposition 13 informations pour chaque vin.</a:t>
            </a:r>
          </a:p>
        </p:txBody>
      </p:sp>
    </p:spTree>
    <p:extLst>
      <p:ext uri="{BB962C8B-B14F-4D97-AF65-F5344CB8AC3E}">
        <p14:creationId xmlns:p14="http://schemas.microsoft.com/office/powerpoint/2010/main" val="2323229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a:t>Analyse exploratoire des données</a:t>
            </a:r>
            <a:endParaRPr lang="fr-FR" b="1" dirty="0"/>
          </a:p>
        </p:txBody>
      </p:sp>
      <p:pic>
        <p:nvPicPr>
          <p:cNvPr id="12" name="Image 11">
            <a:extLst>
              <a:ext uri="{FF2B5EF4-FFF2-40B4-BE49-F238E27FC236}">
                <a16:creationId xmlns:a16="http://schemas.microsoft.com/office/drawing/2014/main" id="{3B582B4E-4230-9ACB-F1F8-3C0C11A0334D}"/>
              </a:ext>
            </a:extLst>
          </p:cNvPr>
          <p:cNvPicPr>
            <a:picLocks noChangeAspect="1"/>
          </p:cNvPicPr>
          <p:nvPr/>
        </p:nvPicPr>
        <p:blipFill>
          <a:blip r:embed="rId3"/>
          <a:stretch>
            <a:fillRect/>
          </a:stretch>
        </p:blipFill>
        <p:spPr>
          <a:xfrm>
            <a:off x="2862469" y="1536199"/>
            <a:ext cx="5752401" cy="4642963"/>
          </a:xfrm>
          <a:prstGeom prst="rect">
            <a:avLst/>
          </a:prstGeom>
        </p:spPr>
      </p:pic>
    </p:spTree>
    <p:extLst>
      <p:ext uri="{BB962C8B-B14F-4D97-AF65-F5344CB8AC3E}">
        <p14:creationId xmlns:p14="http://schemas.microsoft.com/office/powerpoint/2010/main" val="1602380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F7BFCB9E-0C1C-FDC2-399F-D3E0B272F586}"/>
              </a:ext>
            </a:extLst>
          </p:cNvPr>
          <p:cNvPicPr>
            <a:picLocks noChangeAspect="1"/>
          </p:cNvPicPr>
          <p:nvPr/>
        </p:nvPicPr>
        <p:blipFill>
          <a:blip r:embed="rId3"/>
          <a:stretch>
            <a:fillRect/>
          </a:stretch>
        </p:blipFill>
        <p:spPr>
          <a:xfrm>
            <a:off x="2230737" y="1690688"/>
            <a:ext cx="8126061" cy="3215817"/>
          </a:xfrm>
          <a:prstGeom prst="rect">
            <a:avLst/>
          </a:prstGeom>
          <a:ln w="28575">
            <a:solidFill>
              <a:srgbClr val="6B2328"/>
            </a:solidFill>
          </a:ln>
          <a:effectLst/>
        </p:spPr>
      </p:pic>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a:t>Analyse exploratoire des données</a:t>
            </a:r>
            <a:endParaRPr lang="fr-FR" b="1" dirty="0"/>
          </a:p>
        </p:txBody>
      </p:sp>
      <p:pic>
        <p:nvPicPr>
          <p:cNvPr id="10" name="Image 9">
            <a:extLst>
              <a:ext uri="{FF2B5EF4-FFF2-40B4-BE49-F238E27FC236}">
                <a16:creationId xmlns:a16="http://schemas.microsoft.com/office/drawing/2014/main" id="{9FA8C210-EE61-8286-00E5-3C8B07E4E9DD}"/>
              </a:ext>
            </a:extLst>
          </p:cNvPr>
          <p:cNvPicPr>
            <a:picLocks noChangeAspect="1"/>
          </p:cNvPicPr>
          <p:nvPr/>
        </p:nvPicPr>
        <p:blipFill>
          <a:blip r:embed="rId4"/>
          <a:stretch>
            <a:fillRect/>
          </a:stretch>
        </p:blipFill>
        <p:spPr>
          <a:xfrm>
            <a:off x="5686553" y="4061608"/>
            <a:ext cx="5424578" cy="2452805"/>
          </a:xfrm>
          <a:prstGeom prst="rect">
            <a:avLst/>
          </a:prstGeom>
          <a:ln w="28575">
            <a:solidFill>
              <a:srgbClr val="6B2328"/>
            </a:solidFill>
          </a:ln>
          <a:effectLst/>
        </p:spPr>
      </p:pic>
      <p:pic>
        <p:nvPicPr>
          <p:cNvPr id="8" name="Image 7">
            <a:extLst>
              <a:ext uri="{FF2B5EF4-FFF2-40B4-BE49-F238E27FC236}">
                <a16:creationId xmlns:a16="http://schemas.microsoft.com/office/drawing/2014/main" id="{807B33DC-9B7E-ABD1-08E6-5FC2C79AA1AB}"/>
              </a:ext>
            </a:extLst>
          </p:cNvPr>
          <p:cNvPicPr>
            <a:picLocks noChangeAspect="1"/>
          </p:cNvPicPr>
          <p:nvPr/>
        </p:nvPicPr>
        <p:blipFill>
          <a:blip r:embed="rId5"/>
          <a:stretch>
            <a:fillRect/>
          </a:stretch>
        </p:blipFill>
        <p:spPr>
          <a:xfrm>
            <a:off x="5686553" y="4061608"/>
            <a:ext cx="5424578" cy="2475239"/>
          </a:xfrm>
          <a:prstGeom prst="rect">
            <a:avLst/>
          </a:prstGeom>
          <a:ln w="28575">
            <a:solidFill>
              <a:srgbClr val="6B2328"/>
            </a:solidFill>
          </a:ln>
          <a:effectLst/>
        </p:spPr>
      </p:pic>
    </p:spTree>
    <p:extLst>
      <p:ext uri="{BB962C8B-B14F-4D97-AF65-F5344CB8AC3E}">
        <p14:creationId xmlns:p14="http://schemas.microsoft.com/office/powerpoint/2010/main" val="1375882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a:t>Analyse exploratoire des données</a:t>
            </a:r>
            <a:endParaRPr lang="fr-FR" b="1" dirty="0"/>
          </a:p>
        </p:txBody>
      </p:sp>
      <p:pic>
        <p:nvPicPr>
          <p:cNvPr id="6" name="Image 5">
            <a:extLst>
              <a:ext uri="{FF2B5EF4-FFF2-40B4-BE49-F238E27FC236}">
                <a16:creationId xmlns:a16="http://schemas.microsoft.com/office/drawing/2014/main" id="{09E0BA24-F51E-AB60-F4C5-57A49C5A709B}"/>
              </a:ext>
            </a:extLst>
          </p:cNvPr>
          <p:cNvPicPr>
            <a:picLocks noChangeAspect="1"/>
          </p:cNvPicPr>
          <p:nvPr/>
        </p:nvPicPr>
        <p:blipFill>
          <a:blip r:embed="rId3"/>
          <a:stretch>
            <a:fillRect/>
          </a:stretch>
        </p:blipFill>
        <p:spPr>
          <a:xfrm>
            <a:off x="3352800" y="1622356"/>
            <a:ext cx="5486400" cy="4333875"/>
          </a:xfrm>
          <a:prstGeom prst="rect">
            <a:avLst/>
          </a:prstGeom>
          <a:ln w="28575">
            <a:solidFill>
              <a:srgbClr val="6B2328"/>
            </a:solidFill>
          </a:ln>
          <a:effectLst/>
        </p:spPr>
      </p:pic>
      <p:pic>
        <p:nvPicPr>
          <p:cNvPr id="9" name="Image 8">
            <a:extLst>
              <a:ext uri="{FF2B5EF4-FFF2-40B4-BE49-F238E27FC236}">
                <a16:creationId xmlns:a16="http://schemas.microsoft.com/office/drawing/2014/main" id="{B541642B-0048-86CF-0FBE-32EB090C8C37}"/>
              </a:ext>
            </a:extLst>
          </p:cNvPr>
          <p:cNvPicPr>
            <a:picLocks noChangeAspect="1"/>
          </p:cNvPicPr>
          <p:nvPr/>
        </p:nvPicPr>
        <p:blipFill>
          <a:blip r:embed="rId4"/>
          <a:stretch>
            <a:fillRect/>
          </a:stretch>
        </p:blipFill>
        <p:spPr>
          <a:xfrm>
            <a:off x="9509100" y="2319691"/>
            <a:ext cx="1991003" cy="866896"/>
          </a:xfrm>
          <a:prstGeom prst="rect">
            <a:avLst/>
          </a:prstGeom>
        </p:spPr>
      </p:pic>
    </p:spTree>
    <p:extLst>
      <p:ext uri="{BB962C8B-B14F-4D97-AF65-F5344CB8AC3E}">
        <p14:creationId xmlns:p14="http://schemas.microsoft.com/office/powerpoint/2010/main" val="1191942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a:t>Analyse exploratoire des données</a:t>
            </a:r>
            <a:endParaRPr lang="fr-FR" b="1" dirty="0"/>
          </a:p>
        </p:txBody>
      </p:sp>
      <p:pic>
        <p:nvPicPr>
          <p:cNvPr id="4" name="Image 3">
            <a:extLst>
              <a:ext uri="{FF2B5EF4-FFF2-40B4-BE49-F238E27FC236}">
                <a16:creationId xmlns:a16="http://schemas.microsoft.com/office/drawing/2014/main" id="{EB9CAEEE-6B84-6238-5DC5-0B5A72D866D8}"/>
              </a:ext>
            </a:extLst>
          </p:cNvPr>
          <p:cNvPicPr>
            <a:picLocks noChangeAspect="1"/>
          </p:cNvPicPr>
          <p:nvPr/>
        </p:nvPicPr>
        <p:blipFill>
          <a:blip r:embed="rId3"/>
          <a:stretch>
            <a:fillRect/>
          </a:stretch>
        </p:blipFill>
        <p:spPr>
          <a:xfrm>
            <a:off x="982973" y="1329978"/>
            <a:ext cx="5891440" cy="3913119"/>
          </a:xfrm>
          <a:prstGeom prst="rect">
            <a:avLst/>
          </a:prstGeom>
          <a:ln w="28575">
            <a:solidFill>
              <a:srgbClr val="6B2328"/>
            </a:solidFill>
          </a:ln>
          <a:effectLst/>
        </p:spPr>
      </p:pic>
      <p:pic>
        <p:nvPicPr>
          <p:cNvPr id="7" name="Image 6">
            <a:extLst>
              <a:ext uri="{FF2B5EF4-FFF2-40B4-BE49-F238E27FC236}">
                <a16:creationId xmlns:a16="http://schemas.microsoft.com/office/drawing/2014/main" id="{D4F4A160-4002-3872-03E6-8C5935718A19}"/>
              </a:ext>
            </a:extLst>
          </p:cNvPr>
          <p:cNvPicPr>
            <a:picLocks noChangeAspect="1"/>
          </p:cNvPicPr>
          <p:nvPr/>
        </p:nvPicPr>
        <p:blipFill>
          <a:blip r:embed="rId4"/>
          <a:stretch>
            <a:fillRect/>
          </a:stretch>
        </p:blipFill>
        <p:spPr>
          <a:xfrm>
            <a:off x="6096000" y="2921414"/>
            <a:ext cx="5380664" cy="3571461"/>
          </a:xfrm>
          <a:prstGeom prst="rect">
            <a:avLst/>
          </a:prstGeom>
          <a:ln w="28575">
            <a:solidFill>
              <a:srgbClr val="6B2328"/>
            </a:solidFill>
          </a:ln>
          <a:effectLst/>
        </p:spPr>
      </p:pic>
    </p:spTree>
    <p:extLst>
      <p:ext uri="{BB962C8B-B14F-4D97-AF65-F5344CB8AC3E}">
        <p14:creationId xmlns:p14="http://schemas.microsoft.com/office/powerpoint/2010/main" val="3213178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dirty="0"/>
              <a:t>Présentation du Dashboard</a:t>
            </a:r>
          </a:p>
        </p:txBody>
      </p:sp>
      <p:sp>
        <p:nvSpPr>
          <p:cNvPr id="3" name="Espace réservé du contenu 2">
            <a:extLst>
              <a:ext uri="{FF2B5EF4-FFF2-40B4-BE49-F238E27FC236}">
                <a16:creationId xmlns:a16="http://schemas.microsoft.com/office/drawing/2014/main" id="{38E63400-6444-FB2B-4214-62306DA9AB1F}"/>
              </a:ext>
            </a:extLst>
          </p:cNvPr>
          <p:cNvSpPr txBox="1">
            <a:spLocks/>
          </p:cNvSpPr>
          <p:nvPr/>
        </p:nvSpPr>
        <p:spPr>
          <a:xfrm>
            <a:off x="2115533" y="2307907"/>
            <a:ext cx="9427110" cy="2926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fr-FR" sz="2800" dirty="0"/>
              <a:t>Commentaire sur l’analyse du marché </a:t>
            </a:r>
          </a:p>
          <a:p>
            <a:pPr marL="914400" lvl="2" indent="0">
              <a:buNone/>
            </a:pPr>
            <a:endParaRPr lang="fr-FR" dirty="0"/>
          </a:p>
          <a:p>
            <a:pPr lvl="1"/>
            <a:endParaRPr lang="fr-FR" sz="2800" dirty="0"/>
          </a:p>
          <a:p>
            <a:pPr lvl="1"/>
            <a:r>
              <a:rPr lang="fr-FR" sz="2800" dirty="0"/>
              <a:t>Analyse comparative :</a:t>
            </a:r>
          </a:p>
          <a:p>
            <a:pPr lvl="2"/>
            <a:r>
              <a:rPr lang="fr-FR" dirty="0"/>
              <a:t>Quel est le positionnement des concurrents similaires ?</a:t>
            </a:r>
          </a:p>
          <a:p>
            <a:pPr lvl="2"/>
            <a:r>
              <a:rPr lang="fr-FR" dirty="0"/>
              <a:t>Quel est le prix idéal pour le produit à lancer sur le marché?</a:t>
            </a:r>
          </a:p>
          <a:p>
            <a:pPr lvl="2"/>
            <a:r>
              <a:rPr lang="fr-FR" dirty="0"/>
              <a:t>Quelle est la stratégie de positionnement prix à mettre en place?</a:t>
            </a:r>
          </a:p>
          <a:p>
            <a:pPr marL="914400" lvl="2" indent="0">
              <a:buNone/>
            </a:pPr>
            <a:endParaRPr lang="fr-FR" dirty="0"/>
          </a:p>
          <a:p>
            <a:pPr lvl="1"/>
            <a:endParaRPr lang="fr-FR" sz="2800" dirty="0"/>
          </a:p>
        </p:txBody>
      </p:sp>
    </p:spTree>
    <p:extLst>
      <p:ext uri="{BB962C8B-B14F-4D97-AF65-F5344CB8AC3E}">
        <p14:creationId xmlns:p14="http://schemas.microsoft.com/office/powerpoint/2010/main" val="2305103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dirty="0"/>
              <a:t>Conclusion et proposition</a:t>
            </a:r>
          </a:p>
        </p:txBody>
      </p:sp>
      <p:sp>
        <p:nvSpPr>
          <p:cNvPr id="3" name="Espace réservé du contenu 2">
            <a:extLst>
              <a:ext uri="{FF2B5EF4-FFF2-40B4-BE49-F238E27FC236}">
                <a16:creationId xmlns:a16="http://schemas.microsoft.com/office/drawing/2014/main" id="{38E63400-6444-FB2B-4214-62306DA9AB1F}"/>
              </a:ext>
            </a:extLst>
          </p:cNvPr>
          <p:cNvSpPr txBox="1">
            <a:spLocks/>
          </p:cNvSpPr>
          <p:nvPr/>
        </p:nvSpPr>
        <p:spPr>
          <a:xfrm>
            <a:off x="2115533" y="2307907"/>
            <a:ext cx="9427110" cy="2926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fr-FR" dirty="0"/>
          </a:p>
          <a:p>
            <a:pPr lvl="1"/>
            <a:endParaRPr lang="fr-FR" sz="2800" dirty="0"/>
          </a:p>
        </p:txBody>
      </p:sp>
      <p:sp>
        <p:nvSpPr>
          <p:cNvPr id="4" name="ZoneTexte 3">
            <a:extLst>
              <a:ext uri="{FF2B5EF4-FFF2-40B4-BE49-F238E27FC236}">
                <a16:creationId xmlns:a16="http://schemas.microsoft.com/office/drawing/2014/main" id="{85E45D15-1847-6C38-4D3C-622EDB41A1B0}"/>
              </a:ext>
            </a:extLst>
          </p:cNvPr>
          <p:cNvSpPr txBox="1"/>
          <p:nvPr/>
        </p:nvSpPr>
        <p:spPr>
          <a:xfrm>
            <a:off x="2115534" y="2305615"/>
            <a:ext cx="9238266" cy="2308324"/>
          </a:xfrm>
          <a:prstGeom prst="rect">
            <a:avLst/>
          </a:prstGeom>
          <a:noFill/>
        </p:spPr>
        <p:txBody>
          <a:bodyPr wrap="square" rtlCol="0">
            <a:spAutoFit/>
          </a:bodyPr>
          <a:lstStyle/>
          <a:p>
            <a:r>
              <a:rPr lang="fr-FR" sz="3200" b="1" dirty="0">
                <a:effectLst>
                  <a:outerShdw blurRad="38100" dist="38100" dir="2700000" algn="tl">
                    <a:srgbClr val="000000">
                      <a:alpha val="43137"/>
                    </a:srgbClr>
                  </a:outerShdw>
                </a:effectLst>
              </a:rPr>
              <a:t>Deux stratégies potentielles , deux propositions :</a:t>
            </a:r>
          </a:p>
          <a:p>
            <a:endParaRPr lang="fr-FR" sz="2800" dirty="0"/>
          </a:p>
          <a:p>
            <a:pPr marL="742950" lvl="1" indent="-285750">
              <a:buFont typeface="Arial" panose="020B0604020202020204" pitchFamily="34" charset="0"/>
              <a:buChar char="•"/>
            </a:pPr>
            <a:r>
              <a:rPr lang="fr-FR" sz="2800" dirty="0"/>
              <a:t>Implantation rapide et agressive : 56 – 79 $</a:t>
            </a:r>
          </a:p>
          <a:p>
            <a:pPr marL="285750" indent="-285750">
              <a:buFont typeface="Arial" panose="020B0604020202020204" pitchFamily="34" charset="0"/>
              <a:buChar char="•"/>
            </a:pPr>
            <a:endParaRPr lang="fr-FR" sz="2800" dirty="0"/>
          </a:p>
          <a:p>
            <a:pPr marL="742950" lvl="1" indent="-285750">
              <a:buFont typeface="Arial" panose="020B0604020202020204" pitchFamily="34" charset="0"/>
              <a:buChar char="•"/>
            </a:pPr>
            <a:r>
              <a:rPr lang="fr-FR" sz="2800" dirty="0"/>
              <a:t>Implantation au niveau de qualité du vin : ~150 $</a:t>
            </a:r>
          </a:p>
        </p:txBody>
      </p:sp>
    </p:spTree>
    <p:extLst>
      <p:ext uri="{BB962C8B-B14F-4D97-AF65-F5344CB8AC3E}">
        <p14:creationId xmlns:p14="http://schemas.microsoft.com/office/powerpoint/2010/main" val="1571695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AC3E65-F69E-4C3D-3576-41CEB6B36472}"/>
              </a:ext>
            </a:extLst>
          </p:cNvPr>
          <p:cNvSpPr>
            <a:spLocks noGrp="1"/>
          </p:cNvSpPr>
          <p:nvPr>
            <p:ph type="title"/>
          </p:nvPr>
        </p:nvSpPr>
        <p:spPr>
          <a:xfrm>
            <a:off x="1687398" y="365125"/>
            <a:ext cx="9666402" cy="1325563"/>
          </a:xfrm>
        </p:spPr>
        <p:txBody>
          <a:bodyPr/>
          <a:lstStyle/>
          <a:p>
            <a:r>
              <a:rPr lang="fr-FR" b="1" dirty="0"/>
              <a:t>Piste d’amélioration </a:t>
            </a:r>
          </a:p>
        </p:txBody>
      </p:sp>
      <p:sp>
        <p:nvSpPr>
          <p:cNvPr id="3" name="Espace réservé du contenu 2">
            <a:extLst>
              <a:ext uri="{FF2B5EF4-FFF2-40B4-BE49-F238E27FC236}">
                <a16:creationId xmlns:a16="http://schemas.microsoft.com/office/drawing/2014/main" id="{38E63400-6444-FB2B-4214-62306DA9AB1F}"/>
              </a:ext>
            </a:extLst>
          </p:cNvPr>
          <p:cNvSpPr txBox="1">
            <a:spLocks/>
          </p:cNvSpPr>
          <p:nvPr/>
        </p:nvSpPr>
        <p:spPr>
          <a:xfrm>
            <a:off x="2115533" y="2307907"/>
            <a:ext cx="9427110" cy="2926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fr-FR" dirty="0"/>
          </a:p>
          <a:p>
            <a:pPr lvl="1"/>
            <a:endParaRPr lang="fr-FR" sz="2800" dirty="0"/>
          </a:p>
        </p:txBody>
      </p:sp>
      <p:sp>
        <p:nvSpPr>
          <p:cNvPr id="4" name="ZoneTexte 3">
            <a:extLst>
              <a:ext uri="{FF2B5EF4-FFF2-40B4-BE49-F238E27FC236}">
                <a16:creationId xmlns:a16="http://schemas.microsoft.com/office/drawing/2014/main" id="{E2021392-55CB-4A3B-6E52-9E285747FC39}"/>
              </a:ext>
            </a:extLst>
          </p:cNvPr>
          <p:cNvSpPr txBox="1"/>
          <p:nvPr/>
        </p:nvSpPr>
        <p:spPr>
          <a:xfrm>
            <a:off x="2650435" y="2451652"/>
            <a:ext cx="8984974" cy="3046988"/>
          </a:xfrm>
          <a:prstGeom prst="rect">
            <a:avLst/>
          </a:prstGeom>
          <a:noFill/>
        </p:spPr>
        <p:txBody>
          <a:bodyPr wrap="square" rtlCol="0">
            <a:spAutoFit/>
          </a:bodyPr>
          <a:lstStyle/>
          <a:p>
            <a:pPr marL="285750" indent="-285750">
              <a:buFont typeface="Arial" panose="020B0604020202020204" pitchFamily="34" charset="0"/>
              <a:buChar char="•"/>
            </a:pPr>
            <a:r>
              <a:rPr lang="fr-FR" sz="2400" dirty="0"/>
              <a:t>Amélioration du nuage de mot</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Ajout d’une métrique Quartile pour la recommandation de prix</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Ajout d’un sélecteur de typologie de stratégie commerciale</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Mise en place d’un modèle de prédiction basé sur la description</a:t>
            </a:r>
          </a:p>
          <a:p>
            <a:pPr marL="285750" indent="-285750">
              <a:buFont typeface="Arial" panose="020B0604020202020204" pitchFamily="34" charset="0"/>
              <a:buChar char="•"/>
            </a:pPr>
            <a:endParaRPr lang="fr-FR" sz="2400" dirty="0"/>
          </a:p>
        </p:txBody>
      </p:sp>
    </p:spTree>
    <p:extLst>
      <p:ext uri="{BB962C8B-B14F-4D97-AF65-F5344CB8AC3E}">
        <p14:creationId xmlns:p14="http://schemas.microsoft.com/office/powerpoint/2010/main" val="769848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728795-04CA-62E1-C4E7-027A9F573B8E}"/>
              </a:ext>
            </a:extLst>
          </p:cNvPr>
          <p:cNvSpPr>
            <a:spLocks noGrp="1"/>
          </p:cNvSpPr>
          <p:nvPr>
            <p:ph type="ctrTitle"/>
          </p:nvPr>
        </p:nvSpPr>
        <p:spPr>
          <a:xfrm>
            <a:off x="4465984" y="2235200"/>
            <a:ext cx="6639338" cy="2387600"/>
          </a:xfrm>
        </p:spPr>
        <p:txBody>
          <a:bodyPr>
            <a:normAutofit/>
          </a:bodyPr>
          <a:lstStyle/>
          <a:p>
            <a:r>
              <a:rPr lang="fr-FR" sz="8000" i="1" dirty="0">
                <a:latin typeface="Aharoni" panose="020F0502020204030204" pitchFamily="2" charset="-79"/>
                <a:cs typeface="Aharoni" panose="020F0502020204030204" pitchFamily="2" charset="-79"/>
              </a:rPr>
              <a:t>Le temps des questions</a:t>
            </a:r>
          </a:p>
        </p:txBody>
      </p:sp>
      <p:pic>
        <p:nvPicPr>
          <p:cNvPr id="4" name="Image 3" descr="Une image contenant art&#10;&#10;Description générée automatiquement avec une confiance faible">
            <a:extLst>
              <a:ext uri="{FF2B5EF4-FFF2-40B4-BE49-F238E27FC236}">
                <a16:creationId xmlns:a16="http://schemas.microsoft.com/office/drawing/2014/main" id="{7BC80676-F115-FE95-80A0-DF8B975AE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843" y="1123950"/>
            <a:ext cx="6096000" cy="4610100"/>
          </a:xfrm>
          <a:prstGeom prst="rect">
            <a:avLst/>
          </a:prstGeom>
        </p:spPr>
      </p:pic>
    </p:spTree>
    <p:extLst>
      <p:ext uri="{BB962C8B-B14F-4D97-AF65-F5344CB8AC3E}">
        <p14:creationId xmlns:p14="http://schemas.microsoft.com/office/powerpoint/2010/main" val="261414130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655</TotalTime>
  <Words>1134</Words>
  <Application>Microsoft Office PowerPoint</Application>
  <PresentationFormat>Grand écran</PresentationFormat>
  <Paragraphs>119</Paragraphs>
  <Slides>11</Slides>
  <Notes>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11</vt:i4>
      </vt:variant>
    </vt:vector>
  </HeadingPairs>
  <TitlesOfParts>
    <vt:vector size="18" baseType="lpstr">
      <vt:lpstr>Agency FB</vt:lpstr>
      <vt:lpstr>Aharoni</vt:lpstr>
      <vt:lpstr>Aptos</vt:lpstr>
      <vt:lpstr>Aptos Display</vt:lpstr>
      <vt:lpstr>Arial</vt:lpstr>
      <vt:lpstr>Consolas</vt:lpstr>
      <vt:lpstr>Thème Office</vt:lpstr>
      <vt:lpstr>Etude de marché Vin</vt:lpstr>
      <vt:lpstr>Introduction - Contexte</vt:lpstr>
      <vt:lpstr>Analyse exploratoire des données</vt:lpstr>
      <vt:lpstr>Analyse exploratoire des données</vt:lpstr>
      <vt:lpstr>Analyse exploratoire des données</vt:lpstr>
      <vt:lpstr>Analyse exploratoire des données</vt:lpstr>
      <vt:lpstr>Analyse exploratoire des données</vt:lpstr>
      <vt:lpstr>Présentation du Dashboard</vt:lpstr>
      <vt:lpstr>Conclusion et proposition</vt:lpstr>
      <vt:lpstr>Piste d’amélioration </vt:lpstr>
      <vt:lpstr>Le temps des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Dimitri Lefebvre</dc:creator>
  <cp:lastModifiedBy>Dimitri Lefebvre</cp:lastModifiedBy>
  <cp:revision>20</cp:revision>
  <dcterms:created xsi:type="dcterms:W3CDTF">2024-07-15T21:48:08Z</dcterms:created>
  <dcterms:modified xsi:type="dcterms:W3CDTF">2024-07-16T19:11:14Z</dcterms:modified>
</cp:coreProperties>
</file>